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60" r:id="rId4"/>
    <p:sldId id="261" r:id="rId5"/>
    <p:sldId id="263" r:id="rId6"/>
    <p:sldId id="259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17" autoAdjust="0"/>
    <p:restoredTop sz="94660"/>
  </p:normalViewPr>
  <p:slideViewPr>
    <p:cSldViewPr snapToGrid="0">
      <p:cViewPr varScale="1">
        <p:scale>
          <a:sx n="93" d="100"/>
          <a:sy n="93" d="100"/>
        </p:scale>
        <p:origin x="188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C087CE-E6CB-864A-3714-B4BB9245CA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DED4EB8-3318-955F-BD6F-D247D46166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C58AB0-D8DF-C934-D5B1-41B4C7B55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08C61-4719-4353-ADF4-18F5DAF06303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454498-E1C5-79FA-7499-F61CB2E73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F311A1-3AEE-80B2-C787-E507272D9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2482E-752E-409C-929F-E70BF8E6BB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9370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3ECC08-A6EB-8863-A833-828F6620C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A19A4E-5CCA-D3E1-D0D8-DFD9747510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62E1DB-94E1-6DBD-D63F-2E0A00CEA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08C61-4719-4353-ADF4-18F5DAF06303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DAD572-D872-C176-1A9C-77E390D8E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BF469F-2AE0-9554-711D-3632CF89F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2482E-752E-409C-929F-E70BF8E6BB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9750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A45318-4605-6166-9CA1-9F366C9CE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B42A07-CFD2-8010-FBE1-B5E3DF7ACE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B532DA-C83A-375B-AF48-DFBB80172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08C61-4719-4353-ADF4-18F5DAF06303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FD9D8B-343B-7C90-CEA2-26ED58E83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6D130F-6ACC-540B-131D-85FFFC964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2482E-752E-409C-929F-E70BF8E6BB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4642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8F4C8D-FAF4-6C83-8CEC-4476DB1B1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E865AE-96F5-EAEB-14D1-3BDEB53EAA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1CD4FE8-A479-BF91-BEF3-76D4907907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E9EB17D-8673-42D4-DEFD-C37DF8AEC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08C61-4719-4353-ADF4-18F5DAF06303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AF2A36E-641B-791B-3D0B-4E3CF1F06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3C5C787-B0AE-F637-6BC8-7EF5A156A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2482E-752E-409C-929F-E70BF8E6BB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7486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ADB8FE-4A47-ECAB-1136-404773322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E1E3D1A-5214-E001-38B6-9E9A6A1FCD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5B2DBB0-CC33-E969-FA4C-2DD8EA16C3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8762ED5-79A7-4ADB-FD35-56F3E34F6D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B637171-E8F8-4323-1F56-F56F6510EA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B2C02A4-1CC9-907D-3827-BA0FD4BCD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08C61-4719-4353-ADF4-18F5DAF06303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D19AE5D-7320-D12F-5642-E32D0D22F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8139259-B0A7-3193-AC54-7606F6011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2482E-752E-409C-929F-E70BF8E6BB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7463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CB77EF-251F-06DB-84DF-8ED1CCBC9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43801D1-DDBC-2D84-5C18-A172F5708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08C61-4719-4353-ADF4-18F5DAF06303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20DDAEA-0A10-4B6B-CC7C-F0FF50997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64F89ED-0E0A-09B3-A3FF-264E3E981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2482E-752E-409C-929F-E70BF8E6BB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0505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9831A40-CAE9-4216-EFAE-6E89805D5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08C61-4719-4353-ADF4-18F5DAF06303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77FDFB5-BF37-EDEE-ADEE-C1111CEA4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88A503-78E3-2EB1-1230-0DF01024E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2482E-752E-409C-929F-E70BF8E6BB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8008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AB263E-759D-DA18-4079-660915FBC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DD9DBE-AC39-F4E2-E5FD-BC2B274255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BD20132-3D20-FE23-A129-E63591C63C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939E748-3E6C-ED44-7C31-3ED8F7AFF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08C61-4719-4353-ADF4-18F5DAF06303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0EC0737-1AA8-78F2-8D5F-7EC7DCABE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E7E1F3-26CF-A6EC-7CF9-E47A9F806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2482E-752E-409C-929F-E70BF8E6BB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1930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686E14-08C5-4B25-03D1-A999CD43A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3332701-FC2B-5293-708C-25AF13F772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17A3F7A-A1D5-5982-B183-EB298A5920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C11A2F9-2B7E-91D7-5FE3-229DF82ED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08C61-4719-4353-ADF4-18F5DAF06303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CF832B4-B5D6-F543-49C2-E18F0FAE7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5313145-0107-4ECB-D8AF-63FDD1132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2482E-752E-409C-929F-E70BF8E6BB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7417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FC7CA7-B5B1-6559-69B8-5FAE41514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7B4D1F9-C935-3209-F756-AD15EF756D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42DA91-FD46-651E-AD5B-E52711743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08C61-4719-4353-ADF4-18F5DAF06303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570857-2A5D-88DA-3A06-8E52A47C4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792EFC-2477-FD4E-E947-40E06B6DF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2482E-752E-409C-929F-E70BF8E6BB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816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4D2C4B2-0174-FC3D-4AC2-61AAF48BB4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A1F8B9F-3DC2-EA31-5C9C-8A058B772F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DB26D00-A88A-F321-5EC0-79D05E8CE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08C61-4719-4353-ADF4-18F5DAF06303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C26727-8CD6-09BA-2787-89DD82589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F6C947-A131-0454-BC5A-C0B08215E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2482E-752E-409C-929F-E70BF8E6BB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0616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7EEDCCF-A0AD-F785-A8A1-0CA79741B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AC8C782-7FF9-1F1F-0E64-9A2034188A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BB9FC9-93AE-12B0-1BF2-9E883E937D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E08C61-4719-4353-ADF4-18F5DAF06303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DAB29B-9426-5339-25A4-3D20829F23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B09266-5216-9014-7803-EBE0226D76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E2482E-752E-409C-929F-E70BF8E6BB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420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2.png"/><Relationship Id="rId5" Type="http://schemas.openxmlformats.org/officeDocument/2006/relationships/image" Target="../media/image6.png"/><Relationship Id="rId10" Type="http://schemas.openxmlformats.org/officeDocument/2006/relationships/image" Target="../media/image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660C652D-2F8D-5CD4-7383-CD96477E8F22}"/>
              </a:ext>
            </a:extLst>
          </p:cNvPr>
          <p:cNvCxnSpPr>
            <a:cxnSpLocks/>
          </p:cNvCxnSpPr>
          <p:nvPr/>
        </p:nvCxnSpPr>
        <p:spPr>
          <a:xfrm>
            <a:off x="3810000" y="1967343"/>
            <a:ext cx="0" cy="4184072"/>
          </a:xfrm>
          <a:prstGeom prst="line">
            <a:avLst/>
          </a:prstGeom>
          <a:ln w="285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8B76C721-D2A0-F476-2211-FB544D43FD8C}"/>
              </a:ext>
            </a:extLst>
          </p:cNvPr>
          <p:cNvCxnSpPr>
            <a:cxnSpLocks/>
          </p:cNvCxnSpPr>
          <p:nvPr/>
        </p:nvCxnSpPr>
        <p:spPr>
          <a:xfrm>
            <a:off x="6096000" y="1939635"/>
            <a:ext cx="6928" cy="4184072"/>
          </a:xfrm>
          <a:prstGeom prst="line">
            <a:avLst/>
          </a:prstGeom>
          <a:ln w="285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A615836-85DD-00E6-C1ED-1680F2B9BE3F}"/>
              </a:ext>
            </a:extLst>
          </p:cNvPr>
          <p:cNvCxnSpPr>
            <a:cxnSpLocks/>
          </p:cNvCxnSpPr>
          <p:nvPr/>
        </p:nvCxnSpPr>
        <p:spPr>
          <a:xfrm>
            <a:off x="8582890" y="1967343"/>
            <a:ext cx="0" cy="4184072"/>
          </a:xfrm>
          <a:prstGeom prst="line">
            <a:avLst/>
          </a:prstGeom>
          <a:ln w="285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C0871D92-04B1-5FDE-C5DC-0B13949B7329}"/>
              </a:ext>
            </a:extLst>
          </p:cNvPr>
          <p:cNvCxnSpPr>
            <a:cxnSpLocks/>
          </p:cNvCxnSpPr>
          <p:nvPr/>
        </p:nvCxnSpPr>
        <p:spPr>
          <a:xfrm>
            <a:off x="10918780" y="1357172"/>
            <a:ext cx="0" cy="4808101"/>
          </a:xfrm>
          <a:prstGeom prst="line">
            <a:avLst/>
          </a:prstGeom>
          <a:ln w="285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D34DB911-3425-EA1C-E0C8-3D7331DE7C50}"/>
              </a:ext>
            </a:extLst>
          </p:cNvPr>
          <p:cNvSpPr txBox="1"/>
          <p:nvPr/>
        </p:nvSpPr>
        <p:spPr>
          <a:xfrm>
            <a:off x="10774706" y="724484"/>
            <a:ext cx="288147" cy="790848"/>
          </a:xfrm>
          <a:prstGeom prst="rect">
            <a:avLst/>
          </a:prstGeom>
          <a:solidFill>
            <a:srgbClr val="0070C0"/>
          </a:solidFill>
        </p:spPr>
        <p:txBody>
          <a:bodyPr vert="eaVert" wrap="none" lIns="36000" tIns="36000" rIns="36000" bIns="36000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</a:rPr>
              <a:t>客户交期</a:t>
            </a: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D60DFFBF-592F-A5BA-900C-92E11570843E}"/>
              </a:ext>
            </a:extLst>
          </p:cNvPr>
          <p:cNvCxnSpPr>
            <a:cxnSpLocks/>
          </p:cNvCxnSpPr>
          <p:nvPr/>
        </p:nvCxnSpPr>
        <p:spPr>
          <a:xfrm flipH="1">
            <a:off x="1586345" y="1440872"/>
            <a:ext cx="55419" cy="4766535"/>
          </a:xfrm>
          <a:prstGeom prst="line">
            <a:avLst/>
          </a:prstGeom>
          <a:ln w="285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1C39478B-E56E-5F8F-C93D-86D60F74F890}"/>
              </a:ext>
            </a:extLst>
          </p:cNvPr>
          <p:cNvSpPr/>
          <p:nvPr/>
        </p:nvSpPr>
        <p:spPr>
          <a:xfrm>
            <a:off x="5459478" y="1408458"/>
            <a:ext cx="1319051" cy="4923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zh-CN" altLang="en-US" sz="1400" dirty="0"/>
              <a:t>客户交期</a:t>
            </a:r>
            <a:endParaRPr lang="en-US" altLang="zh-CN" sz="1400" dirty="0"/>
          </a:p>
          <a:p>
            <a:pPr algn="ctr"/>
            <a:r>
              <a:rPr lang="en-US" altLang="zh-CN" sz="1400" dirty="0"/>
              <a:t>(</a:t>
            </a:r>
            <a:r>
              <a:rPr lang="zh-CN" altLang="en-US" sz="1400" dirty="0"/>
              <a:t>客户提前期</a:t>
            </a:r>
            <a:r>
              <a:rPr lang="en-US" altLang="zh-CN" sz="1400" dirty="0"/>
              <a:t>)</a:t>
            </a:r>
            <a:endParaRPr lang="zh-CN" altLang="en-US" sz="1400" dirty="0"/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928DFE54-2DDC-ABBC-B0A5-BB395F9C7926}"/>
              </a:ext>
            </a:extLst>
          </p:cNvPr>
          <p:cNvCxnSpPr>
            <a:cxnSpLocks/>
            <a:stCxn id="21" idx="1"/>
          </p:cNvCxnSpPr>
          <p:nvPr/>
        </p:nvCxnSpPr>
        <p:spPr>
          <a:xfrm flipH="1">
            <a:off x="1671057" y="1654651"/>
            <a:ext cx="37884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2C63CCB6-0C1F-26CB-3895-D593D73E4BFB}"/>
              </a:ext>
            </a:extLst>
          </p:cNvPr>
          <p:cNvCxnSpPr>
            <a:cxnSpLocks/>
            <a:stCxn id="21" idx="3"/>
          </p:cNvCxnSpPr>
          <p:nvPr/>
        </p:nvCxnSpPr>
        <p:spPr>
          <a:xfrm flipV="1">
            <a:off x="6778529" y="1650411"/>
            <a:ext cx="4097288" cy="4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C900D697-866C-7DA5-3B5F-ACE46B8B65BA}"/>
              </a:ext>
            </a:extLst>
          </p:cNvPr>
          <p:cNvSpPr/>
          <p:nvPr/>
        </p:nvSpPr>
        <p:spPr>
          <a:xfrm>
            <a:off x="9227829" y="2570009"/>
            <a:ext cx="1032165" cy="2701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zh-CN" altLang="en-US" sz="1400" dirty="0"/>
              <a:t>交货周期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199ECB90-03C7-B87D-1B3E-E14F72203B03}"/>
              </a:ext>
            </a:extLst>
          </p:cNvPr>
          <p:cNvSpPr/>
          <p:nvPr/>
        </p:nvSpPr>
        <p:spPr>
          <a:xfrm>
            <a:off x="6750976" y="2341282"/>
            <a:ext cx="1032165" cy="7307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zh-CN" altLang="en-US" sz="1400" dirty="0"/>
              <a:t>成品周期</a:t>
            </a:r>
            <a:endParaRPr lang="en-US" altLang="zh-CN" sz="1400" dirty="0"/>
          </a:p>
          <a:p>
            <a:pPr algn="ctr"/>
            <a:r>
              <a:rPr lang="en-US" altLang="zh-CN" sz="1400" dirty="0"/>
              <a:t>(</a:t>
            </a:r>
            <a:r>
              <a:rPr lang="zh-CN" altLang="en-US" sz="1400" dirty="0"/>
              <a:t>生产提前期</a:t>
            </a:r>
            <a:r>
              <a:rPr lang="en-US" altLang="zh-CN" sz="1400" dirty="0"/>
              <a:t>-</a:t>
            </a:r>
            <a:r>
              <a:rPr lang="zh-CN" altLang="en-US" sz="1400" dirty="0"/>
              <a:t>成品</a:t>
            </a:r>
            <a:r>
              <a:rPr lang="en-US" altLang="zh-CN" sz="1400" dirty="0"/>
              <a:t>)</a:t>
            </a:r>
            <a:endParaRPr lang="zh-CN" altLang="en-US" sz="1400" dirty="0"/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31DCF21C-C042-F578-617A-577C207360C5}"/>
              </a:ext>
            </a:extLst>
          </p:cNvPr>
          <p:cNvSpPr/>
          <p:nvPr/>
        </p:nvSpPr>
        <p:spPr>
          <a:xfrm>
            <a:off x="4415787" y="2341283"/>
            <a:ext cx="1052945" cy="7306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zh-CN" altLang="en-US" sz="1400" dirty="0"/>
              <a:t>半成品周期</a:t>
            </a:r>
            <a:endParaRPr lang="en-US" altLang="zh-CN" sz="1400" dirty="0"/>
          </a:p>
          <a:p>
            <a:pPr algn="ctr"/>
            <a:r>
              <a:rPr lang="en-US" altLang="zh-CN" sz="1400" dirty="0"/>
              <a:t>(</a:t>
            </a:r>
            <a:r>
              <a:rPr lang="zh-CN" altLang="en-US" sz="1400" dirty="0"/>
              <a:t>生产提前期</a:t>
            </a:r>
            <a:r>
              <a:rPr lang="en-US" altLang="zh-CN" sz="1400" dirty="0"/>
              <a:t>-</a:t>
            </a:r>
            <a:r>
              <a:rPr lang="zh-CN" altLang="en-US" sz="1400" dirty="0"/>
              <a:t>半成品</a:t>
            </a:r>
            <a:r>
              <a:rPr lang="en-US" altLang="zh-CN" sz="1400" dirty="0"/>
              <a:t>)</a:t>
            </a:r>
            <a:endParaRPr lang="zh-CN" altLang="en-US" sz="1400" dirty="0"/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9FEDEEFB-4121-2FBB-19A0-3A4FCEA8D057}"/>
              </a:ext>
            </a:extLst>
          </p:cNvPr>
          <p:cNvSpPr/>
          <p:nvPr/>
        </p:nvSpPr>
        <p:spPr>
          <a:xfrm>
            <a:off x="2162008" y="2426840"/>
            <a:ext cx="1130214" cy="5410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zh-CN" altLang="en-US" sz="1400" dirty="0"/>
              <a:t>采购周期</a:t>
            </a:r>
            <a:endParaRPr lang="en-US" altLang="zh-CN" sz="1400" dirty="0"/>
          </a:p>
          <a:p>
            <a:pPr algn="ctr"/>
            <a:r>
              <a:rPr lang="en-US" altLang="zh-CN" sz="1400" dirty="0"/>
              <a:t>(</a:t>
            </a:r>
            <a:r>
              <a:rPr lang="zh-CN" altLang="en-US" sz="1400" dirty="0"/>
              <a:t>采购提前期</a:t>
            </a:r>
            <a:r>
              <a:rPr lang="en-US" altLang="zh-CN" sz="1400" dirty="0"/>
              <a:t>)</a:t>
            </a:r>
            <a:endParaRPr lang="zh-CN" altLang="en-US" sz="1400" dirty="0"/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026011CA-C719-E716-9672-C484A9B09AA6}"/>
              </a:ext>
            </a:extLst>
          </p:cNvPr>
          <p:cNvCxnSpPr>
            <a:cxnSpLocks/>
            <a:stCxn id="28" idx="3"/>
          </p:cNvCxnSpPr>
          <p:nvPr/>
        </p:nvCxnSpPr>
        <p:spPr>
          <a:xfrm flipV="1">
            <a:off x="10259994" y="2705088"/>
            <a:ext cx="615823" cy="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CE9EA017-8EFE-9171-63F8-E7F95D3117B0}"/>
              </a:ext>
            </a:extLst>
          </p:cNvPr>
          <p:cNvCxnSpPr>
            <a:stCxn id="28" idx="1"/>
          </p:cNvCxnSpPr>
          <p:nvPr/>
        </p:nvCxnSpPr>
        <p:spPr>
          <a:xfrm flipH="1" flipV="1">
            <a:off x="8582890" y="2705088"/>
            <a:ext cx="644939" cy="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F566E925-D644-6F42-B7CC-D25FDE45219C}"/>
              </a:ext>
            </a:extLst>
          </p:cNvPr>
          <p:cNvCxnSpPr>
            <a:cxnSpLocks/>
            <a:stCxn id="29" idx="3"/>
          </p:cNvCxnSpPr>
          <p:nvPr/>
        </p:nvCxnSpPr>
        <p:spPr>
          <a:xfrm flipV="1">
            <a:off x="7783141" y="2705088"/>
            <a:ext cx="799749" cy="15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5F00165E-5A1D-16CA-7CEF-40B016C0B37E}"/>
              </a:ext>
            </a:extLst>
          </p:cNvPr>
          <p:cNvCxnSpPr>
            <a:cxnSpLocks/>
            <a:stCxn id="29" idx="1"/>
          </p:cNvCxnSpPr>
          <p:nvPr/>
        </p:nvCxnSpPr>
        <p:spPr>
          <a:xfrm flipH="1" flipV="1">
            <a:off x="6084560" y="2705088"/>
            <a:ext cx="666416" cy="15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17E3B54F-3DC6-2368-3A49-F204432265A6}"/>
              </a:ext>
            </a:extLst>
          </p:cNvPr>
          <p:cNvCxnSpPr>
            <a:cxnSpLocks/>
            <a:stCxn id="30" idx="3"/>
          </p:cNvCxnSpPr>
          <p:nvPr/>
        </p:nvCxnSpPr>
        <p:spPr>
          <a:xfrm flipV="1">
            <a:off x="5468732" y="2705088"/>
            <a:ext cx="642154" cy="15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30E3CD59-C94A-5476-FF45-A98A4954A329}"/>
              </a:ext>
            </a:extLst>
          </p:cNvPr>
          <p:cNvCxnSpPr>
            <a:cxnSpLocks/>
            <a:stCxn id="30" idx="1"/>
          </p:cNvCxnSpPr>
          <p:nvPr/>
        </p:nvCxnSpPr>
        <p:spPr>
          <a:xfrm flipH="1" flipV="1">
            <a:off x="3786446" y="2701626"/>
            <a:ext cx="629341" cy="50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1A31EA58-86B7-AF0A-A3D2-B8E32984EC43}"/>
              </a:ext>
            </a:extLst>
          </p:cNvPr>
          <p:cNvCxnSpPr>
            <a:cxnSpLocks/>
            <a:stCxn id="31" idx="3"/>
          </p:cNvCxnSpPr>
          <p:nvPr/>
        </p:nvCxnSpPr>
        <p:spPr>
          <a:xfrm>
            <a:off x="3292222" y="2697390"/>
            <a:ext cx="546889" cy="76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94C2CF62-0DB8-2F2A-FF73-E46F24F2BAD0}"/>
              </a:ext>
            </a:extLst>
          </p:cNvPr>
          <p:cNvCxnSpPr>
            <a:cxnSpLocks/>
            <a:stCxn id="31" idx="1"/>
          </p:cNvCxnSpPr>
          <p:nvPr/>
        </p:nvCxnSpPr>
        <p:spPr>
          <a:xfrm flipH="1">
            <a:off x="1662545" y="2697390"/>
            <a:ext cx="499463" cy="42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矩形: 圆角 60">
            <a:extLst>
              <a:ext uri="{FF2B5EF4-FFF2-40B4-BE49-F238E27FC236}">
                <a16:creationId xmlns:a16="http://schemas.microsoft.com/office/drawing/2014/main" id="{0365B919-D1C6-D648-5D93-6733FFD972D4}"/>
              </a:ext>
            </a:extLst>
          </p:cNvPr>
          <p:cNvSpPr/>
          <p:nvPr/>
        </p:nvSpPr>
        <p:spPr>
          <a:xfrm>
            <a:off x="2162008" y="3792954"/>
            <a:ext cx="1032165" cy="270163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zh-CN" altLang="en-US" sz="1400" dirty="0"/>
              <a:t>适当备库存</a:t>
            </a:r>
          </a:p>
        </p:txBody>
      </p:sp>
      <p:sp>
        <p:nvSpPr>
          <p:cNvPr id="62" name="矩形: 圆角 61">
            <a:extLst>
              <a:ext uri="{FF2B5EF4-FFF2-40B4-BE49-F238E27FC236}">
                <a16:creationId xmlns:a16="http://schemas.microsoft.com/office/drawing/2014/main" id="{9FB8755C-1DA1-1D13-A2BB-59B8A29D8075}"/>
              </a:ext>
            </a:extLst>
          </p:cNvPr>
          <p:cNvSpPr/>
          <p:nvPr/>
        </p:nvSpPr>
        <p:spPr>
          <a:xfrm>
            <a:off x="2182789" y="4229372"/>
            <a:ext cx="1032165" cy="270163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zh-CN" altLang="en-US" sz="1400" dirty="0"/>
              <a:t>优化供应商</a:t>
            </a:r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6DBCC32B-B17A-7DAF-7736-9F004C9BF7C4}"/>
              </a:ext>
            </a:extLst>
          </p:cNvPr>
          <p:cNvSpPr/>
          <p:nvPr/>
        </p:nvSpPr>
        <p:spPr>
          <a:xfrm>
            <a:off x="4327778" y="3786017"/>
            <a:ext cx="1032165" cy="270163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zh-CN" altLang="en-US" sz="1400" dirty="0"/>
              <a:t>适当备库存</a:t>
            </a:r>
          </a:p>
        </p:txBody>
      </p:sp>
      <p:sp>
        <p:nvSpPr>
          <p:cNvPr id="64" name="矩形: 圆角 63">
            <a:extLst>
              <a:ext uri="{FF2B5EF4-FFF2-40B4-BE49-F238E27FC236}">
                <a16:creationId xmlns:a16="http://schemas.microsoft.com/office/drawing/2014/main" id="{E0C8B17A-AFDD-548B-4E17-71C244FD9A68}"/>
              </a:ext>
            </a:extLst>
          </p:cNvPr>
          <p:cNvSpPr/>
          <p:nvPr/>
        </p:nvSpPr>
        <p:spPr>
          <a:xfrm>
            <a:off x="4210534" y="4229374"/>
            <a:ext cx="1279476" cy="270161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zh-CN" altLang="en-US" sz="1400" dirty="0"/>
              <a:t>提高生产效率</a:t>
            </a:r>
          </a:p>
        </p:txBody>
      </p:sp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ED2E638A-9C0A-E284-FB9A-416ACFE79F6E}"/>
              </a:ext>
            </a:extLst>
          </p:cNvPr>
          <p:cNvSpPr/>
          <p:nvPr/>
        </p:nvSpPr>
        <p:spPr>
          <a:xfrm>
            <a:off x="6749221" y="3786017"/>
            <a:ext cx="1032165" cy="270163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zh-CN" altLang="en-US" sz="1400" dirty="0"/>
              <a:t>适当备库存</a:t>
            </a:r>
          </a:p>
        </p:txBody>
      </p:sp>
      <p:sp>
        <p:nvSpPr>
          <p:cNvPr id="66" name="矩形: 圆角 65">
            <a:extLst>
              <a:ext uri="{FF2B5EF4-FFF2-40B4-BE49-F238E27FC236}">
                <a16:creationId xmlns:a16="http://schemas.microsoft.com/office/drawing/2014/main" id="{0A250F7A-95BC-FC39-3AB1-9BE21A343230}"/>
              </a:ext>
            </a:extLst>
          </p:cNvPr>
          <p:cNvSpPr/>
          <p:nvPr/>
        </p:nvSpPr>
        <p:spPr>
          <a:xfrm>
            <a:off x="6652587" y="4229374"/>
            <a:ext cx="1279476" cy="270161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zh-CN" altLang="en-US" sz="1400" dirty="0"/>
              <a:t>提高生产效率</a:t>
            </a:r>
          </a:p>
        </p:txBody>
      </p:sp>
      <p:sp>
        <p:nvSpPr>
          <p:cNvPr id="67" name="矩形: 圆角 66">
            <a:extLst>
              <a:ext uri="{FF2B5EF4-FFF2-40B4-BE49-F238E27FC236}">
                <a16:creationId xmlns:a16="http://schemas.microsoft.com/office/drawing/2014/main" id="{F50F04F7-09B2-FA67-0185-1341CD393DC3}"/>
              </a:ext>
            </a:extLst>
          </p:cNvPr>
          <p:cNvSpPr/>
          <p:nvPr/>
        </p:nvSpPr>
        <p:spPr>
          <a:xfrm>
            <a:off x="2175861" y="5186166"/>
            <a:ext cx="6178429" cy="390833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zh-CN" altLang="en-US" sz="1600" b="1" dirty="0">
                <a:solidFill>
                  <a:srgbClr val="FF0000"/>
                </a:solidFill>
              </a:rPr>
              <a:t>优化排产、提高并行生产程度</a:t>
            </a:r>
            <a:endParaRPr lang="en-US" altLang="zh-CN" sz="1600" b="1" dirty="0">
              <a:solidFill>
                <a:srgbClr val="FF0000"/>
              </a:solidFill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D647CD52-E479-C559-899E-EBEB4E5E269C}"/>
              </a:ext>
            </a:extLst>
          </p:cNvPr>
          <p:cNvSpPr txBox="1"/>
          <p:nvPr/>
        </p:nvSpPr>
        <p:spPr>
          <a:xfrm>
            <a:off x="4101116" y="359243"/>
            <a:ext cx="4134465" cy="523220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</a:rPr>
              <a:t>优化排产、缩短客户交期</a:t>
            </a:r>
          </a:p>
        </p:txBody>
      </p:sp>
      <p:pic>
        <p:nvPicPr>
          <p:cNvPr id="69" name="图片 68">
            <a:extLst>
              <a:ext uri="{FF2B5EF4-FFF2-40B4-BE49-F238E27FC236}">
                <a16:creationId xmlns:a16="http://schemas.microsoft.com/office/drawing/2014/main" id="{A908686D-A931-92F2-6A71-B5D73170A1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08" y="89514"/>
            <a:ext cx="1612549" cy="716688"/>
          </a:xfrm>
          <a:prstGeom prst="rect">
            <a:avLst/>
          </a:prstGeom>
        </p:spPr>
      </p:pic>
      <p:pic>
        <p:nvPicPr>
          <p:cNvPr id="70" name="图片 69">
            <a:extLst>
              <a:ext uri="{FF2B5EF4-FFF2-40B4-BE49-F238E27FC236}">
                <a16:creationId xmlns:a16="http://schemas.microsoft.com/office/drawing/2014/main" id="{851EE713-5EBA-71D7-BA51-099FE1E665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1177" y="6097450"/>
            <a:ext cx="1140822" cy="760549"/>
          </a:xfrm>
          <a:prstGeom prst="rect">
            <a:avLst/>
          </a:prstGeom>
        </p:spPr>
      </p:pic>
      <p:sp>
        <p:nvSpPr>
          <p:cNvPr id="102" name="矩形: 圆角 101">
            <a:extLst>
              <a:ext uri="{FF2B5EF4-FFF2-40B4-BE49-F238E27FC236}">
                <a16:creationId xmlns:a16="http://schemas.microsoft.com/office/drawing/2014/main" id="{6B010A53-89FE-0351-8D24-D7B3227FD043}"/>
              </a:ext>
            </a:extLst>
          </p:cNvPr>
          <p:cNvSpPr/>
          <p:nvPr/>
        </p:nvSpPr>
        <p:spPr>
          <a:xfrm>
            <a:off x="9234753" y="4229373"/>
            <a:ext cx="1177268" cy="270152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zh-CN" altLang="en-US" sz="1400" dirty="0"/>
              <a:t>优化运输线路</a:t>
            </a:r>
          </a:p>
        </p:txBody>
      </p:sp>
    </p:spTree>
    <p:extLst>
      <p:ext uri="{BB962C8B-B14F-4D97-AF65-F5344CB8AC3E}">
        <p14:creationId xmlns:p14="http://schemas.microsoft.com/office/powerpoint/2010/main" val="25027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C949EDD-054A-5C02-2CBC-2B14754EB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7501" y="1748396"/>
            <a:ext cx="1331354" cy="127261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F8167E9-0721-1F4E-D93B-504BA2E113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1673" y="3598831"/>
            <a:ext cx="1003396" cy="95322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94FC0C6-A541-B9B0-6A6C-43344DE8E3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7655" y="5381901"/>
            <a:ext cx="764598" cy="74107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2804E5FF-B84E-C68A-AA05-6FD5AB1587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8115" y="5372516"/>
            <a:ext cx="764598" cy="74722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40A35646-04DC-72AF-1574-5D648E13C8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45952" y="5344808"/>
            <a:ext cx="764598" cy="747221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8D029E77-A539-39F6-F1C5-70A9D09D66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1786" y="5354193"/>
            <a:ext cx="840034" cy="802138"/>
          </a:xfrm>
          <a:prstGeom prst="rect">
            <a:avLst/>
          </a:prstGeom>
        </p:spPr>
      </p:pic>
      <p:cxnSp>
        <p:nvCxnSpPr>
          <p:cNvPr id="18" name="连接符: 肘形 17">
            <a:extLst>
              <a:ext uri="{FF2B5EF4-FFF2-40B4-BE49-F238E27FC236}">
                <a16:creationId xmlns:a16="http://schemas.microsoft.com/office/drawing/2014/main" id="{2A6FF88E-8B75-2FC5-219D-29B70C688F06}"/>
              </a:ext>
            </a:extLst>
          </p:cNvPr>
          <p:cNvCxnSpPr>
            <a:cxnSpLocks/>
            <a:stCxn id="3" idx="2"/>
            <a:endCxn id="6" idx="0"/>
          </p:cNvCxnSpPr>
          <p:nvPr/>
        </p:nvCxnSpPr>
        <p:spPr>
          <a:xfrm rot="16200000" flipH="1">
            <a:off x="2604365" y="2909825"/>
            <a:ext cx="577818" cy="800193"/>
          </a:xfrm>
          <a:prstGeom prst="bentConnector3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连接符: 肘形 19">
            <a:extLst>
              <a:ext uri="{FF2B5EF4-FFF2-40B4-BE49-F238E27FC236}">
                <a16:creationId xmlns:a16="http://schemas.microsoft.com/office/drawing/2014/main" id="{646FAA90-21B9-5047-CE41-0F3ED5D670CA}"/>
              </a:ext>
            </a:extLst>
          </p:cNvPr>
          <p:cNvCxnSpPr>
            <a:cxnSpLocks/>
            <a:stCxn id="3" idx="2"/>
            <a:endCxn id="16" idx="0"/>
          </p:cNvCxnSpPr>
          <p:nvPr/>
        </p:nvCxnSpPr>
        <p:spPr>
          <a:xfrm rot="5400000">
            <a:off x="555901" y="3416916"/>
            <a:ext cx="2333180" cy="1541375"/>
          </a:xfrm>
          <a:prstGeom prst="bentConnector3">
            <a:avLst>
              <a:gd name="adj1" fmla="val 12887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连接符: 肘形 21">
            <a:extLst>
              <a:ext uri="{FF2B5EF4-FFF2-40B4-BE49-F238E27FC236}">
                <a16:creationId xmlns:a16="http://schemas.microsoft.com/office/drawing/2014/main" id="{4EF9A8BB-C27D-8296-F69A-BDFC3E64DB50}"/>
              </a:ext>
            </a:extLst>
          </p:cNvPr>
          <p:cNvCxnSpPr>
            <a:stCxn id="6" idx="2"/>
            <a:endCxn id="8" idx="0"/>
          </p:cNvCxnSpPr>
          <p:nvPr/>
        </p:nvCxnSpPr>
        <p:spPr>
          <a:xfrm rot="5400000">
            <a:off x="2266741" y="4355271"/>
            <a:ext cx="829844" cy="1223417"/>
          </a:xfrm>
          <a:prstGeom prst="bentConnector3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连接符: 肘形 25">
            <a:extLst>
              <a:ext uri="{FF2B5EF4-FFF2-40B4-BE49-F238E27FC236}">
                <a16:creationId xmlns:a16="http://schemas.microsoft.com/office/drawing/2014/main" id="{F7B74AFE-7D94-D573-013F-AAC4C62B6D4E}"/>
              </a:ext>
            </a:extLst>
          </p:cNvPr>
          <p:cNvCxnSpPr>
            <a:stCxn id="6" idx="2"/>
            <a:endCxn id="12" idx="0"/>
          </p:cNvCxnSpPr>
          <p:nvPr/>
        </p:nvCxnSpPr>
        <p:spPr>
          <a:xfrm rot="16200000" flipH="1">
            <a:off x="3514436" y="4330992"/>
            <a:ext cx="792751" cy="1234880"/>
          </a:xfrm>
          <a:prstGeom prst="bentConnector3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93142165-938C-0449-B412-19C2A3F7D9BE}"/>
              </a:ext>
            </a:extLst>
          </p:cNvPr>
          <p:cNvCxnSpPr>
            <a:stCxn id="6" idx="2"/>
            <a:endCxn id="10" idx="0"/>
          </p:cNvCxnSpPr>
          <p:nvPr/>
        </p:nvCxnSpPr>
        <p:spPr>
          <a:xfrm>
            <a:off x="3293371" y="4552057"/>
            <a:ext cx="7043" cy="82045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966808E6-C764-5BF9-7E27-B7EAF2ABBE18}"/>
              </a:ext>
            </a:extLst>
          </p:cNvPr>
          <p:cNvCxnSpPr>
            <a:cxnSpLocks/>
          </p:cNvCxnSpPr>
          <p:nvPr/>
        </p:nvCxnSpPr>
        <p:spPr>
          <a:xfrm>
            <a:off x="110836" y="1551707"/>
            <a:ext cx="9130146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A35798CD-4B54-DDA3-50E5-7B35F3378217}"/>
              </a:ext>
            </a:extLst>
          </p:cNvPr>
          <p:cNvCxnSpPr>
            <a:cxnSpLocks/>
          </p:cNvCxnSpPr>
          <p:nvPr/>
        </p:nvCxnSpPr>
        <p:spPr>
          <a:xfrm>
            <a:off x="128173" y="6324595"/>
            <a:ext cx="9112809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3724B735-F0A4-659C-097B-2979AAED2D5D}"/>
              </a:ext>
            </a:extLst>
          </p:cNvPr>
          <p:cNvCxnSpPr>
            <a:cxnSpLocks/>
          </p:cNvCxnSpPr>
          <p:nvPr/>
        </p:nvCxnSpPr>
        <p:spPr>
          <a:xfrm>
            <a:off x="110836" y="4613559"/>
            <a:ext cx="9081655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275CC96C-FE38-0D0A-CA36-28E475835A87}"/>
              </a:ext>
            </a:extLst>
          </p:cNvPr>
          <p:cNvCxnSpPr>
            <a:cxnSpLocks/>
          </p:cNvCxnSpPr>
          <p:nvPr/>
        </p:nvCxnSpPr>
        <p:spPr>
          <a:xfrm>
            <a:off x="128173" y="3082631"/>
            <a:ext cx="9112809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80553E31-33A5-9508-84DC-CF147047D50F}"/>
              </a:ext>
            </a:extLst>
          </p:cNvPr>
          <p:cNvSpPr txBox="1"/>
          <p:nvPr/>
        </p:nvSpPr>
        <p:spPr>
          <a:xfrm>
            <a:off x="256309" y="1937346"/>
            <a:ext cx="275477" cy="753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rgbClr val="FF0000"/>
                </a:solidFill>
              </a:rPr>
              <a:t>成</a:t>
            </a:r>
            <a:endParaRPr lang="en-US" altLang="zh-CN" sz="1400" dirty="0">
              <a:solidFill>
                <a:srgbClr val="FF0000"/>
              </a:solidFill>
            </a:endParaRPr>
          </a:p>
          <a:p>
            <a:pPr algn="ctr"/>
            <a:endParaRPr lang="en-US" altLang="zh-CN" sz="1400" dirty="0">
              <a:solidFill>
                <a:srgbClr val="FF0000"/>
              </a:solidFill>
            </a:endParaRPr>
          </a:p>
          <a:p>
            <a:pPr algn="ctr"/>
            <a:r>
              <a:rPr lang="zh-CN" altLang="en-US" sz="1400" dirty="0">
                <a:solidFill>
                  <a:srgbClr val="FF0000"/>
                </a:solidFill>
              </a:rPr>
              <a:t>品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D1177857-03EC-A15B-EE03-1BC11FD9A919}"/>
              </a:ext>
            </a:extLst>
          </p:cNvPr>
          <p:cNvSpPr txBox="1"/>
          <p:nvPr/>
        </p:nvSpPr>
        <p:spPr>
          <a:xfrm>
            <a:off x="264511" y="3495982"/>
            <a:ext cx="27547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rgbClr val="FF0000"/>
                </a:solidFill>
              </a:rPr>
              <a:t>半成</a:t>
            </a:r>
            <a:endParaRPr lang="en-US" altLang="zh-CN" sz="1400" dirty="0">
              <a:solidFill>
                <a:srgbClr val="FF0000"/>
              </a:solidFill>
            </a:endParaRPr>
          </a:p>
          <a:p>
            <a:pPr algn="ctr"/>
            <a:r>
              <a:rPr lang="zh-CN" altLang="en-US" sz="1400" dirty="0">
                <a:solidFill>
                  <a:srgbClr val="FF0000"/>
                </a:solidFill>
              </a:rPr>
              <a:t>品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66D906C4-B066-A811-165E-CE1C875207A2}"/>
              </a:ext>
            </a:extLst>
          </p:cNvPr>
          <p:cNvSpPr txBox="1"/>
          <p:nvPr/>
        </p:nvSpPr>
        <p:spPr>
          <a:xfrm>
            <a:off x="256308" y="4793667"/>
            <a:ext cx="27547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rgbClr val="FF0000"/>
                </a:solidFill>
              </a:rPr>
              <a:t>原</a:t>
            </a:r>
            <a:endParaRPr lang="en-US" altLang="zh-CN" sz="1400" dirty="0">
              <a:solidFill>
                <a:srgbClr val="FF0000"/>
              </a:solidFill>
            </a:endParaRPr>
          </a:p>
          <a:p>
            <a:pPr algn="ctr"/>
            <a:endParaRPr lang="en-US" altLang="zh-CN" sz="1400" dirty="0">
              <a:solidFill>
                <a:srgbClr val="FF0000"/>
              </a:solidFill>
            </a:endParaRPr>
          </a:p>
          <a:p>
            <a:pPr algn="ctr"/>
            <a:r>
              <a:rPr lang="zh-CN" altLang="en-US" sz="1400" dirty="0">
                <a:solidFill>
                  <a:srgbClr val="FF0000"/>
                </a:solidFill>
              </a:rPr>
              <a:t>料</a:t>
            </a:r>
            <a:endParaRPr lang="en-US" altLang="zh-CN" sz="1400" dirty="0">
              <a:solidFill>
                <a:srgbClr val="FF0000"/>
              </a:solidFill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6D3772C8-6176-44E1-2D60-8FC8AD1DADA5}"/>
              </a:ext>
            </a:extLst>
          </p:cNvPr>
          <p:cNvSpPr txBox="1"/>
          <p:nvPr/>
        </p:nvSpPr>
        <p:spPr>
          <a:xfrm>
            <a:off x="4905264" y="4869868"/>
            <a:ext cx="27547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rgbClr val="FF0000"/>
                </a:solidFill>
              </a:rPr>
              <a:t>采购提前期</a:t>
            </a:r>
            <a:endParaRPr lang="en-US" altLang="zh-CN" sz="1400" dirty="0">
              <a:solidFill>
                <a:srgbClr val="FF0000"/>
              </a:solidFill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65F1D2F9-E599-0E72-577E-4A6E7EBC2160}"/>
              </a:ext>
            </a:extLst>
          </p:cNvPr>
          <p:cNvSpPr txBox="1"/>
          <p:nvPr/>
        </p:nvSpPr>
        <p:spPr>
          <a:xfrm>
            <a:off x="4791038" y="3461096"/>
            <a:ext cx="503927" cy="95410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zh-CN" altLang="en-US" sz="1400" dirty="0">
                <a:solidFill>
                  <a:srgbClr val="FF0000"/>
                </a:solidFill>
              </a:rPr>
              <a:t>生产提前期</a:t>
            </a:r>
            <a:r>
              <a:rPr lang="en-US" altLang="zh-CN" sz="1400" dirty="0">
                <a:solidFill>
                  <a:srgbClr val="FF0000"/>
                </a:solidFill>
              </a:rPr>
              <a:t>(</a:t>
            </a:r>
            <a:r>
              <a:rPr lang="zh-CN" altLang="en-US" sz="1400" dirty="0">
                <a:solidFill>
                  <a:srgbClr val="FF0000"/>
                </a:solidFill>
              </a:rPr>
              <a:t>半成品</a:t>
            </a:r>
            <a:r>
              <a:rPr lang="en-US" altLang="zh-CN" sz="1400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42F06729-BA92-F0A9-0360-B775E49B554C}"/>
              </a:ext>
            </a:extLst>
          </p:cNvPr>
          <p:cNvSpPr txBox="1"/>
          <p:nvPr/>
        </p:nvSpPr>
        <p:spPr>
          <a:xfrm>
            <a:off x="4791038" y="1766357"/>
            <a:ext cx="503927" cy="934478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zh-CN" altLang="en-US" sz="1400" dirty="0">
                <a:solidFill>
                  <a:srgbClr val="FF0000"/>
                </a:solidFill>
              </a:rPr>
              <a:t>生产提前期</a:t>
            </a:r>
            <a:r>
              <a:rPr lang="en-US" altLang="zh-CN" sz="1400" dirty="0">
                <a:solidFill>
                  <a:srgbClr val="FF0000"/>
                </a:solidFill>
              </a:rPr>
              <a:t>(</a:t>
            </a:r>
            <a:r>
              <a:rPr lang="zh-CN" altLang="en-US" sz="1400" dirty="0">
                <a:solidFill>
                  <a:srgbClr val="FF0000"/>
                </a:solidFill>
              </a:rPr>
              <a:t>成品</a:t>
            </a:r>
            <a:r>
              <a:rPr lang="en-US" altLang="zh-CN" sz="1400" dirty="0">
                <a:solidFill>
                  <a:srgbClr val="FF0000"/>
                </a:solidFill>
              </a:rPr>
              <a:t>)</a:t>
            </a:r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AAF49953-681A-E573-8064-360ECDCDE61D}"/>
              </a:ext>
            </a:extLst>
          </p:cNvPr>
          <p:cNvCxnSpPr>
            <a:stCxn id="44" idx="0"/>
          </p:cNvCxnSpPr>
          <p:nvPr/>
        </p:nvCxnSpPr>
        <p:spPr>
          <a:xfrm flipH="1" flipV="1">
            <a:off x="5043001" y="4613559"/>
            <a:ext cx="2" cy="2563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DD23FF61-864E-90F1-B8F5-612A016DF0BD}"/>
              </a:ext>
            </a:extLst>
          </p:cNvPr>
          <p:cNvCxnSpPr>
            <a:stCxn id="44" idx="2"/>
          </p:cNvCxnSpPr>
          <p:nvPr/>
        </p:nvCxnSpPr>
        <p:spPr>
          <a:xfrm flipH="1">
            <a:off x="5043001" y="6039419"/>
            <a:ext cx="2" cy="2851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EF1CF141-33C6-9728-B679-C3F04DABD232}"/>
              </a:ext>
            </a:extLst>
          </p:cNvPr>
          <p:cNvCxnSpPr>
            <a:cxnSpLocks/>
          </p:cNvCxnSpPr>
          <p:nvPr/>
        </p:nvCxnSpPr>
        <p:spPr>
          <a:xfrm>
            <a:off x="5043001" y="4280797"/>
            <a:ext cx="0" cy="3327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CA380576-D1A9-73BE-13C1-D7F59522D9E5}"/>
              </a:ext>
            </a:extLst>
          </p:cNvPr>
          <p:cNvCxnSpPr>
            <a:cxnSpLocks/>
            <a:stCxn id="45" idx="0"/>
          </p:cNvCxnSpPr>
          <p:nvPr/>
        </p:nvCxnSpPr>
        <p:spPr>
          <a:xfrm flipV="1">
            <a:off x="5043002" y="3111864"/>
            <a:ext cx="0" cy="3492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0CF29BEB-05FF-83B3-EBEF-35A071D9634D}"/>
              </a:ext>
            </a:extLst>
          </p:cNvPr>
          <p:cNvCxnSpPr>
            <a:cxnSpLocks/>
            <a:stCxn id="46" idx="2"/>
          </p:cNvCxnSpPr>
          <p:nvPr/>
        </p:nvCxnSpPr>
        <p:spPr>
          <a:xfrm flipH="1">
            <a:off x="5043001" y="2700835"/>
            <a:ext cx="1" cy="3572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25517EC8-EDEB-AC29-5535-E0C79956324D}"/>
              </a:ext>
            </a:extLst>
          </p:cNvPr>
          <p:cNvCxnSpPr>
            <a:stCxn id="46" idx="0"/>
          </p:cNvCxnSpPr>
          <p:nvPr/>
        </p:nvCxnSpPr>
        <p:spPr>
          <a:xfrm flipH="1" flipV="1">
            <a:off x="5043001" y="1544777"/>
            <a:ext cx="1" cy="2215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本框 61">
            <a:extLst>
              <a:ext uri="{FF2B5EF4-FFF2-40B4-BE49-F238E27FC236}">
                <a16:creationId xmlns:a16="http://schemas.microsoft.com/office/drawing/2014/main" id="{8FAC676F-40EE-9F88-F469-C176665BAE34}"/>
              </a:ext>
            </a:extLst>
          </p:cNvPr>
          <p:cNvSpPr txBox="1"/>
          <p:nvPr/>
        </p:nvSpPr>
        <p:spPr>
          <a:xfrm>
            <a:off x="5674641" y="3326310"/>
            <a:ext cx="27547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rgbClr val="FF0000"/>
                </a:solidFill>
              </a:rPr>
              <a:t>客户提前期</a:t>
            </a:r>
            <a:endParaRPr lang="en-US" altLang="zh-CN" sz="1400" dirty="0">
              <a:solidFill>
                <a:srgbClr val="FF0000"/>
              </a:solidFill>
            </a:endParaRPr>
          </a:p>
        </p:txBody>
      </p: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79D4652F-05EE-FF7A-6358-0EFA5A9D0CEC}"/>
              </a:ext>
            </a:extLst>
          </p:cNvPr>
          <p:cNvCxnSpPr>
            <a:stCxn id="62" idx="0"/>
          </p:cNvCxnSpPr>
          <p:nvPr/>
        </p:nvCxnSpPr>
        <p:spPr>
          <a:xfrm flipH="1" flipV="1">
            <a:off x="5812379" y="1551707"/>
            <a:ext cx="1" cy="17746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0A43BB41-36E3-0D10-7240-0359C8752E69}"/>
              </a:ext>
            </a:extLst>
          </p:cNvPr>
          <p:cNvCxnSpPr>
            <a:stCxn id="62" idx="2"/>
          </p:cNvCxnSpPr>
          <p:nvPr/>
        </p:nvCxnSpPr>
        <p:spPr>
          <a:xfrm flipH="1">
            <a:off x="5812379" y="4495861"/>
            <a:ext cx="1" cy="18287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本框 66">
            <a:extLst>
              <a:ext uri="{FF2B5EF4-FFF2-40B4-BE49-F238E27FC236}">
                <a16:creationId xmlns:a16="http://schemas.microsoft.com/office/drawing/2014/main" id="{C2EE0988-F0AD-5036-0F79-FABB9D66BAFB}"/>
              </a:ext>
            </a:extLst>
          </p:cNvPr>
          <p:cNvSpPr txBox="1"/>
          <p:nvPr/>
        </p:nvSpPr>
        <p:spPr>
          <a:xfrm>
            <a:off x="6672593" y="1883893"/>
            <a:ext cx="503927" cy="719034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zh-CN" altLang="en-US" sz="1400" dirty="0">
                <a:solidFill>
                  <a:srgbClr val="FF0000"/>
                </a:solidFill>
              </a:rPr>
              <a:t>生产订单</a:t>
            </a:r>
            <a:r>
              <a:rPr lang="en-US" altLang="zh-CN" sz="1400" dirty="0">
                <a:solidFill>
                  <a:srgbClr val="FF0000"/>
                </a:solidFill>
              </a:rPr>
              <a:t>(</a:t>
            </a:r>
            <a:r>
              <a:rPr lang="zh-CN" altLang="en-US" sz="1400" dirty="0">
                <a:solidFill>
                  <a:srgbClr val="FF0000"/>
                </a:solidFill>
              </a:rPr>
              <a:t>成品</a:t>
            </a:r>
            <a:r>
              <a:rPr lang="en-US" altLang="zh-CN" sz="1400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BE7E8ABB-B6DC-076D-E1BA-E8C1B5BE5CE2}"/>
              </a:ext>
            </a:extLst>
          </p:cNvPr>
          <p:cNvSpPr txBox="1"/>
          <p:nvPr/>
        </p:nvSpPr>
        <p:spPr>
          <a:xfrm>
            <a:off x="6638471" y="3309921"/>
            <a:ext cx="503927" cy="934478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zh-CN" altLang="en-US" sz="1400" dirty="0">
                <a:solidFill>
                  <a:srgbClr val="FF0000"/>
                </a:solidFill>
              </a:rPr>
              <a:t>生产订单</a:t>
            </a:r>
            <a:r>
              <a:rPr lang="en-US" altLang="zh-CN" sz="1400" dirty="0">
                <a:solidFill>
                  <a:srgbClr val="FF0000"/>
                </a:solidFill>
              </a:rPr>
              <a:t>(</a:t>
            </a:r>
            <a:r>
              <a:rPr lang="zh-CN" altLang="en-US" sz="1400" dirty="0">
                <a:solidFill>
                  <a:srgbClr val="FF0000"/>
                </a:solidFill>
              </a:rPr>
              <a:t>半成品</a:t>
            </a:r>
            <a:r>
              <a:rPr lang="en-US" altLang="zh-CN" sz="1400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9D696BC9-BEBC-6309-21D1-D43375E490F9}"/>
              </a:ext>
            </a:extLst>
          </p:cNvPr>
          <p:cNvSpPr txBox="1"/>
          <p:nvPr/>
        </p:nvSpPr>
        <p:spPr>
          <a:xfrm>
            <a:off x="6584857" y="4886954"/>
            <a:ext cx="503927" cy="934478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zh-CN" altLang="en-US" sz="1400" dirty="0">
                <a:solidFill>
                  <a:srgbClr val="FF0000"/>
                </a:solidFill>
              </a:rPr>
              <a:t>采购订单</a:t>
            </a:r>
            <a:r>
              <a:rPr lang="en-US" altLang="zh-CN" sz="1400" dirty="0">
                <a:solidFill>
                  <a:srgbClr val="FF0000"/>
                </a:solidFill>
              </a:rPr>
              <a:t>(</a:t>
            </a:r>
            <a:r>
              <a:rPr lang="zh-CN" altLang="en-US" sz="1400" dirty="0">
                <a:solidFill>
                  <a:srgbClr val="FF0000"/>
                </a:solidFill>
              </a:rPr>
              <a:t>缺料采购</a:t>
            </a:r>
            <a:r>
              <a:rPr lang="en-US" altLang="zh-CN" sz="1400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87969111-8AAC-2106-5CA3-E328D8A2B7ED}"/>
              </a:ext>
            </a:extLst>
          </p:cNvPr>
          <p:cNvSpPr txBox="1"/>
          <p:nvPr/>
        </p:nvSpPr>
        <p:spPr>
          <a:xfrm>
            <a:off x="1781462" y="940645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B0F0"/>
                </a:solidFill>
              </a:rPr>
              <a:t>料号、</a:t>
            </a:r>
            <a:r>
              <a:rPr lang="en-US" altLang="zh-CN" dirty="0">
                <a:solidFill>
                  <a:srgbClr val="00B0F0"/>
                </a:solidFill>
              </a:rPr>
              <a:t>BoM</a:t>
            </a:r>
            <a:r>
              <a:rPr lang="zh-CN" altLang="en-US" dirty="0">
                <a:solidFill>
                  <a:srgbClr val="00B0F0"/>
                </a:solidFill>
              </a:rPr>
              <a:t>等主数据设置</a:t>
            </a:r>
          </a:p>
        </p:txBody>
      </p:sp>
      <p:cxnSp>
        <p:nvCxnSpPr>
          <p:cNvPr id="77" name="直接连接符 76">
            <a:extLst>
              <a:ext uri="{FF2B5EF4-FFF2-40B4-BE49-F238E27FC236}">
                <a16:creationId xmlns:a16="http://schemas.microsoft.com/office/drawing/2014/main" id="{9C1B0AF2-0977-C24C-DAF0-E5BF448C6BE3}"/>
              </a:ext>
            </a:extLst>
          </p:cNvPr>
          <p:cNvCxnSpPr>
            <a:cxnSpLocks/>
          </p:cNvCxnSpPr>
          <p:nvPr/>
        </p:nvCxnSpPr>
        <p:spPr>
          <a:xfrm>
            <a:off x="6191761" y="796632"/>
            <a:ext cx="8144" cy="5742709"/>
          </a:xfrm>
          <a:prstGeom prst="line">
            <a:avLst/>
          </a:prstGeom>
          <a:ln>
            <a:solidFill>
              <a:srgbClr val="00B05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文本框 78">
            <a:extLst>
              <a:ext uri="{FF2B5EF4-FFF2-40B4-BE49-F238E27FC236}">
                <a16:creationId xmlns:a16="http://schemas.microsoft.com/office/drawing/2014/main" id="{50AA2D46-B52B-4FBA-2D2A-7686C3492DF3}"/>
              </a:ext>
            </a:extLst>
          </p:cNvPr>
          <p:cNvSpPr txBox="1"/>
          <p:nvPr/>
        </p:nvSpPr>
        <p:spPr>
          <a:xfrm>
            <a:off x="6166303" y="795027"/>
            <a:ext cx="11240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00B0F0"/>
                </a:solidFill>
              </a:rPr>
              <a:t>MRP</a:t>
            </a:r>
            <a:r>
              <a:rPr lang="zh-CN" altLang="en-US" sz="1600" dirty="0">
                <a:solidFill>
                  <a:srgbClr val="00B0F0"/>
                </a:solidFill>
              </a:rPr>
              <a:t>运行</a:t>
            </a:r>
            <a:endParaRPr lang="en-US" altLang="zh-CN" sz="1600" dirty="0">
              <a:solidFill>
                <a:srgbClr val="00B0F0"/>
              </a:solidFill>
            </a:endParaRPr>
          </a:p>
          <a:p>
            <a:pPr algn="ctr"/>
            <a:r>
              <a:rPr lang="en-US" altLang="zh-CN" sz="1600" dirty="0">
                <a:solidFill>
                  <a:srgbClr val="00B0F0"/>
                </a:solidFill>
              </a:rPr>
              <a:t>(</a:t>
            </a:r>
            <a:r>
              <a:rPr lang="zh-CN" altLang="en-US" sz="1600" dirty="0">
                <a:solidFill>
                  <a:srgbClr val="00B0F0"/>
                </a:solidFill>
              </a:rPr>
              <a:t>齐套排产</a:t>
            </a:r>
            <a:r>
              <a:rPr lang="en-US" altLang="zh-CN" sz="1600" dirty="0">
                <a:solidFill>
                  <a:srgbClr val="00B0F0"/>
                </a:solidFill>
              </a:rPr>
              <a:t>)</a:t>
            </a:r>
            <a:endParaRPr lang="zh-CN" altLang="en-US" sz="1600" dirty="0">
              <a:solidFill>
                <a:srgbClr val="00B0F0"/>
              </a:solidFill>
            </a:endParaRPr>
          </a:p>
        </p:txBody>
      </p: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DE97572B-B864-11AE-5237-FB04D9EDD2EC}"/>
              </a:ext>
            </a:extLst>
          </p:cNvPr>
          <p:cNvCxnSpPr>
            <a:cxnSpLocks/>
          </p:cNvCxnSpPr>
          <p:nvPr/>
        </p:nvCxnSpPr>
        <p:spPr>
          <a:xfrm>
            <a:off x="7445551" y="796632"/>
            <a:ext cx="8144" cy="5742709"/>
          </a:xfrm>
          <a:prstGeom prst="line">
            <a:avLst/>
          </a:prstGeom>
          <a:ln>
            <a:solidFill>
              <a:srgbClr val="00B05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文本框 80">
            <a:extLst>
              <a:ext uri="{FF2B5EF4-FFF2-40B4-BE49-F238E27FC236}">
                <a16:creationId xmlns:a16="http://schemas.microsoft.com/office/drawing/2014/main" id="{A181BCB5-A702-9632-FAA4-60DC0DC268B9}"/>
              </a:ext>
            </a:extLst>
          </p:cNvPr>
          <p:cNvSpPr txBox="1"/>
          <p:nvPr/>
        </p:nvSpPr>
        <p:spPr>
          <a:xfrm>
            <a:off x="7741949" y="795027"/>
            <a:ext cx="11240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B0F0"/>
                </a:solidFill>
              </a:rPr>
              <a:t>排产</a:t>
            </a:r>
            <a:endParaRPr lang="en-US" altLang="zh-CN" sz="1600" dirty="0">
              <a:solidFill>
                <a:srgbClr val="00B0F0"/>
              </a:solidFill>
            </a:endParaRPr>
          </a:p>
          <a:p>
            <a:pPr algn="ctr"/>
            <a:r>
              <a:rPr lang="en-US" altLang="zh-CN" sz="1600" dirty="0">
                <a:solidFill>
                  <a:srgbClr val="00B0F0"/>
                </a:solidFill>
              </a:rPr>
              <a:t>(</a:t>
            </a:r>
            <a:r>
              <a:rPr lang="zh-CN" altLang="en-US" sz="1600" dirty="0">
                <a:solidFill>
                  <a:srgbClr val="00B0F0"/>
                </a:solidFill>
              </a:rPr>
              <a:t>产能排产</a:t>
            </a:r>
            <a:r>
              <a:rPr lang="en-US" altLang="zh-CN" sz="1600" dirty="0">
                <a:solidFill>
                  <a:srgbClr val="00B0F0"/>
                </a:solidFill>
              </a:rPr>
              <a:t>)</a:t>
            </a:r>
            <a:endParaRPr lang="zh-CN" altLang="en-US" sz="1600" dirty="0">
              <a:solidFill>
                <a:srgbClr val="00B0F0"/>
              </a:solidFill>
            </a:endParaRPr>
          </a:p>
        </p:txBody>
      </p:sp>
      <p:pic>
        <p:nvPicPr>
          <p:cNvPr id="83" name="图片 82">
            <a:extLst>
              <a:ext uri="{FF2B5EF4-FFF2-40B4-BE49-F238E27FC236}">
                <a16:creationId xmlns:a16="http://schemas.microsoft.com/office/drawing/2014/main" id="{632D8862-8CE4-D59A-A324-AC42213CF10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08071" y="3665698"/>
            <a:ext cx="751061" cy="1227971"/>
          </a:xfrm>
          <a:prstGeom prst="rect">
            <a:avLst/>
          </a:prstGeom>
        </p:spPr>
      </p:pic>
      <p:pic>
        <p:nvPicPr>
          <p:cNvPr id="84" name="图片 83">
            <a:extLst>
              <a:ext uri="{FF2B5EF4-FFF2-40B4-BE49-F238E27FC236}">
                <a16:creationId xmlns:a16="http://schemas.microsoft.com/office/drawing/2014/main" id="{D7DCE8A8-E172-B066-1933-3530BE3BD48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71807" y="3627588"/>
            <a:ext cx="751061" cy="1227971"/>
          </a:xfrm>
          <a:prstGeom prst="rect">
            <a:avLst/>
          </a:prstGeom>
        </p:spPr>
      </p:pic>
      <p:pic>
        <p:nvPicPr>
          <p:cNvPr id="85" name="图片 84">
            <a:extLst>
              <a:ext uri="{FF2B5EF4-FFF2-40B4-BE49-F238E27FC236}">
                <a16:creationId xmlns:a16="http://schemas.microsoft.com/office/drawing/2014/main" id="{E8E8304E-8047-F3E6-DC7B-F0E31253A29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73797" y="3620660"/>
            <a:ext cx="751061" cy="1227971"/>
          </a:xfrm>
          <a:prstGeom prst="rect">
            <a:avLst/>
          </a:prstGeom>
        </p:spPr>
      </p:pic>
      <p:pic>
        <p:nvPicPr>
          <p:cNvPr id="87" name="图片 86">
            <a:extLst>
              <a:ext uri="{FF2B5EF4-FFF2-40B4-BE49-F238E27FC236}">
                <a16:creationId xmlns:a16="http://schemas.microsoft.com/office/drawing/2014/main" id="{9D1AD6AB-D6DE-AD97-F8D8-8938F835BCA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83916" y="1576111"/>
            <a:ext cx="1221036" cy="1404493"/>
          </a:xfrm>
          <a:prstGeom prst="rect">
            <a:avLst/>
          </a:prstGeom>
        </p:spPr>
      </p:pic>
      <p:pic>
        <p:nvPicPr>
          <p:cNvPr id="88" name="图片 87">
            <a:extLst>
              <a:ext uri="{FF2B5EF4-FFF2-40B4-BE49-F238E27FC236}">
                <a16:creationId xmlns:a16="http://schemas.microsoft.com/office/drawing/2014/main" id="{ADF36D9C-2247-CE2A-AB4E-35C1A0FA973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33638" y="1797350"/>
            <a:ext cx="1221036" cy="1404493"/>
          </a:xfrm>
          <a:prstGeom prst="rect">
            <a:avLst/>
          </a:prstGeom>
        </p:spPr>
      </p:pic>
      <p:sp>
        <p:nvSpPr>
          <p:cNvPr id="89" name="文本框 88">
            <a:extLst>
              <a:ext uri="{FF2B5EF4-FFF2-40B4-BE49-F238E27FC236}">
                <a16:creationId xmlns:a16="http://schemas.microsoft.com/office/drawing/2014/main" id="{56A9EB38-75C3-1340-AD85-924C8617BF90}"/>
              </a:ext>
            </a:extLst>
          </p:cNvPr>
          <p:cNvSpPr txBox="1"/>
          <p:nvPr/>
        </p:nvSpPr>
        <p:spPr>
          <a:xfrm>
            <a:off x="7445551" y="1596997"/>
            <a:ext cx="225414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00B0F0"/>
                </a:solidFill>
              </a:rPr>
              <a:t>1</a:t>
            </a:r>
            <a:r>
              <a:rPr lang="zh-CN" altLang="en-US" sz="1400" dirty="0">
                <a:solidFill>
                  <a:srgbClr val="00B0F0"/>
                </a:solidFill>
              </a:rPr>
              <a:t>、根据设备负载、产能等</a:t>
            </a:r>
            <a:endParaRPr lang="en-US" altLang="zh-CN" sz="1400" dirty="0">
              <a:solidFill>
                <a:srgbClr val="00B0F0"/>
              </a:solidFill>
            </a:endParaRPr>
          </a:p>
          <a:p>
            <a:r>
              <a:rPr lang="zh-CN" altLang="en-US" sz="1400" dirty="0">
                <a:solidFill>
                  <a:srgbClr val="00B0F0"/>
                </a:solidFill>
              </a:rPr>
              <a:t>自动安排装配机台</a:t>
            </a:r>
            <a:endParaRPr lang="en-US" altLang="zh-CN" sz="1400" dirty="0">
              <a:solidFill>
                <a:srgbClr val="00B0F0"/>
              </a:solidFill>
            </a:endParaRPr>
          </a:p>
          <a:p>
            <a:r>
              <a:rPr lang="en-US" altLang="zh-CN" sz="1400" dirty="0">
                <a:solidFill>
                  <a:srgbClr val="00B0F0"/>
                </a:solidFill>
              </a:rPr>
              <a:t>2</a:t>
            </a:r>
            <a:r>
              <a:rPr lang="zh-CN" altLang="en-US" sz="1400" dirty="0">
                <a:solidFill>
                  <a:srgbClr val="00B0F0"/>
                </a:solidFill>
              </a:rPr>
              <a:t>、调整开工时间</a:t>
            </a: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06C16E3B-2133-2119-97DF-CF02F8A89C44}"/>
              </a:ext>
            </a:extLst>
          </p:cNvPr>
          <p:cNvSpPr txBox="1"/>
          <p:nvPr/>
        </p:nvSpPr>
        <p:spPr>
          <a:xfrm>
            <a:off x="7451089" y="3144134"/>
            <a:ext cx="225414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00B0F0"/>
                </a:solidFill>
              </a:rPr>
              <a:t>1</a:t>
            </a:r>
            <a:r>
              <a:rPr lang="zh-CN" altLang="en-US" sz="1400" dirty="0">
                <a:solidFill>
                  <a:srgbClr val="00B0F0"/>
                </a:solidFill>
              </a:rPr>
              <a:t>、根据设备负载、产能等</a:t>
            </a:r>
            <a:endParaRPr lang="en-US" altLang="zh-CN" sz="1400" dirty="0">
              <a:solidFill>
                <a:srgbClr val="00B0F0"/>
              </a:solidFill>
            </a:endParaRPr>
          </a:p>
          <a:p>
            <a:r>
              <a:rPr lang="zh-CN" altLang="en-US" sz="1400" dirty="0">
                <a:solidFill>
                  <a:srgbClr val="00B0F0"/>
                </a:solidFill>
              </a:rPr>
              <a:t>自动安排加工机台</a:t>
            </a:r>
            <a:endParaRPr lang="en-US" altLang="zh-CN" sz="1400" dirty="0">
              <a:solidFill>
                <a:srgbClr val="00B0F0"/>
              </a:solidFill>
            </a:endParaRPr>
          </a:p>
          <a:p>
            <a:r>
              <a:rPr lang="en-US" altLang="zh-CN" sz="1400" dirty="0">
                <a:solidFill>
                  <a:srgbClr val="00B0F0"/>
                </a:solidFill>
              </a:rPr>
              <a:t>2</a:t>
            </a:r>
            <a:r>
              <a:rPr lang="zh-CN" altLang="en-US" sz="1400" dirty="0">
                <a:solidFill>
                  <a:srgbClr val="00B0F0"/>
                </a:solidFill>
              </a:rPr>
              <a:t>、调整开工时间</a:t>
            </a: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A6D96B2B-950D-BED6-5F38-ABFB612C7DE5}"/>
              </a:ext>
            </a:extLst>
          </p:cNvPr>
          <p:cNvSpPr txBox="1"/>
          <p:nvPr/>
        </p:nvSpPr>
        <p:spPr>
          <a:xfrm>
            <a:off x="9883916" y="793758"/>
            <a:ext cx="16209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B0F0"/>
                </a:solidFill>
              </a:rPr>
              <a:t>设备组、产能、</a:t>
            </a:r>
            <a:endParaRPr lang="en-US" altLang="zh-CN" sz="1600" dirty="0">
              <a:solidFill>
                <a:srgbClr val="00B0F0"/>
              </a:solidFill>
            </a:endParaRPr>
          </a:p>
          <a:p>
            <a:pPr algn="ctr"/>
            <a:r>
              <a:rPr lang="zh-CN" altLang="en-US" sz="1600" dirty="0">
                <a:solidFill>
                  <a:srgbClr val="00B0F0"/>
                </a:solidFill>
              </a:rPr>
              <a:t>工艺等设置</a:t>
            </a:r>
            <a:endParaRPr lang="en-US" altLang="zh-CN" sz="1600" dirty="0">
              <a:solidFill>
                <a:srgbClr val="00B0F0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D1ED894A-392E-657F-606D-3FB0F3184039}"/>
              </a:ext>
            </a:extLst>
          </p:cNvPr>
          <p:cNvSpPr txBox="1"/>
          <p:nvPr/>
        </p:nvSpPr>
        <p:spPr>
          <a:xfrm>
            <a:off x="4145952" y="76724"/>
            <a:ext cx="3913251" cy="523220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</a:rPr>
              <a:t>Odoo ERP</a:t>
            </a:r>
            <a:r>
              <a:rPr lang="zh-CN" altLang="en-US" sz="2800" dirty="0">
                <a:solidFill>
                  <a:schemeClr val="bg1"/>
                </a:solidFill>
              </a:rPr>
              <a:t>订单排产图解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0C50FEE7-A293-38DB-111A-7AA234C4A0C0}"/>
              </a:ext>
            </a:extLst>
          </p:cNvPr>
          <p:cNvSpPr/>
          <p:nvPr/>
        </p:nvSpPr>
        <p:spPr>
          <a:xfrm>
            <a:off x="5251839" y="1952927"/>
            <a:ext cx="254990" cy="51181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zh-CN" sz="1400" dirty="0"/>
              <a:t>4</a:t>
            </a:r>
            <a:r>
              <a:rPr lang="zh-CN" altLang="en-US" sz="1400" dirty="0"/>
              <a:t>天</a:t>
            </a: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0DB1493E-F24A-2E23-EFF4-0348FC608AF0}"/>
              </a:ext>
            </a:extLst>
          </p:cNvPr>
          <p:cNvSpPr/>
          <p:nvPr/>
        </p:nvSpPr>
        <p:spPr>
          <a:xfrm>
            <a:off x="5251839" y="3671236"/>
            <a:ext cx="254990" cy="51181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zh-CN" sz="1400" dirty="0"/>
              <a:t>5</a:t>
            </a:r>
            <a:r>
              <a:rPr lang="zh-CN" altLang="en-US" sz="1400" dirty="0"/>
              <a:t>天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06F51B25-4F7B-1448-E037-09C026ABDED1}"/>
              </a:ext>
            </a:extLst>
          </p:cNvPr>
          <p:cNvSpPr/>
          <p:nvPr/>
        </p:nvSpPr>
        <p:spPr>
          <a:xfrm>
            <a:off x="5153817" y="5234310"/>
            <a:ext cx="254990" cy="51181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zh-CN" sz="1400" dirty="0"/>
              <a:t>7</a:t>
            </a:r>
            <a:r>
              <a:rPr lang="zh-CN" altLang="en-US" sz="1400" dirty="0"/>
              <a:t>天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9D177B18-79CF-8A83-4678-0C1D00CBC111}"/>
              </a:ext>
            </a:extLst>
          </p:cNvPr>
          <p:cNvSpPr/>
          <p:nvPr/>
        </p:nvSpPr>
        <p:spPr>
          <a:xfrm>
            <a:off x="5916299" y="3719229"/>
            <a:ext cx="381561" cy="51181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zh-CN" sz="1400" dirty="0"/>
              <a:t>20</a:t>
            </a:r>
            <a:r>
              <a:rPr lang="zh-CN" altLang="en-US" sz="1400" dirty="0"/>
              <a:t>天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03733D60-B092-BF14-83A9-38955F62B35B}"/>
              </a:ext>
            </a:extLst>
          </p:cNvPr>
          <p:cNvSpPr/>
          <p:nvPr/>
        </p:nvSpPr>
        <p:spPr>
          <a:xfrm>
            <a:off x="6456015" y="1372033"/>
            <a:ext cx="733426" cy="41622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zh-CN" altLang="en-US" sz="1200" dirty="0"/>
              <a:t>客户交期</a:t>
            </a:r>
            <a:endParaRPr lang="en-US" altLang="zh-CN" sz="1200" dirty="0"/>
          </a:p>
          <a:p>
            <a:pPr algn="ctr"/>
            <a:r>
              <a:rPr lang="en-US" altLang="zh-CN" sz="1200" dirty="0"/>
              <a:t>7</a:t>
            </a:r>
            <a:r>
              <a:rPr lang="zh-CN" altLang="en-US" sz="1200" dirty="0"/>
              <a:t>月</a:t>
            </a:r>
            <a:r>
              <a:rPr lang="en-US" altLang="zh-CN" sz="1200" dirty="0"/>
              <a:t>30</a:t>
            </a:r>
            <a:r>
              <a:rPr lang="zh-CN" altLang="en-US" sz="1200" dirty="0"/>
              <a:t>日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9D4A0CF-88BE-15A5-01ED-B95131A4287F}"/>
              </a:ext>
            </a:extLst>
          </p:cNvPr>
          <p:cNvSpPr/>
          <p:nvPr/>
        </p:nvSpPr>
        <p:spPr>
          <a:xfrm>
            <a:off x="6324291" y="2604783"/>
            <a:ext cx="733426" cy="41622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zh-CN" altLang="en-US" sz="1200" dirty="0"/>
              <a:t>装配开工</a:t>
            </a:r>
            <a:endParaRPr lang="en-US" altLang="zh-CN" sz="1200" dirty="0"/>
          </a:p>
          <a:p>
            <a:pPr algn="ctr"/>
            <a:r>
              <a:rPr lang="en-US" altLang="zh-CN" sz="1200" dirty="0"/>
              <a:t>7</a:t>
            </a:r>
            <a:r>
              <a:rPr lang="zh-CN" altLang="en-US" sz="1200" dirty="0"/>
              <a:t>月</a:t>
            </a:r>
            <a:r>
              <a:rPr lang="en-US" altLang="zh-CN" sz="1200" dirty="0"/>
              <a:t>26</a:t>
            </a:r>
            <a:r>
              <a:rPr lang="zh-CN" altLang="en-US" sz="1200" dirty="0"/>
              <a:t>日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535341C2-C1DA-2573-4742-FA238E6381A2}"/>
              </a:ext>
            </a:extLst>
          </p:cNvPr>
          <p:cNvSpPr/>
          <p:nvPr/>
        </p:nvSpPr>
        <p:spPr>
          <a:xfrm>
            <a:off x="6406755" y="4241113"/>
            <a:ext cx="733426" cy="41622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zh-CN" altLang="en-US" sz="1200" dirty="0"/>
              <a:t>部件开工</a:t>
            </a:r>
            <a:endParaRPr lang="en-US" altLang="zh-CN" sz="1200" dirty="0"/>
          </a:p>
          <a:p>
            <a:pPr algn="ctr"/>
            <a:r>
              <a:rPr lang="en-US" altLang="zh-CN" sz="1200" dirty="0"/>
              <a:t>7</a:t>
            </a:r>
            <a:r>
              <a:rPr lang="zh-CN" altLang="en-US" sz="1200" dirty="0"/>
              <a:t>月</a:t>
            </a:r>
            <a:r>
              <a:rPr lang="en-US" altLang="zh-CN" sz="1200" dirty="0"/>
              <a:t>21</a:t>
            </a:r>
            <a:r>
              <a:rPr lang="zh-CN" altLang="en-US" sz="1200" dirty="0"/>
              <a:t>日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56FCE161-693E-2EF2-0BFD-3C8BF56A9270}"/>
              </a:ext>
            </a:extLst>
          </p:cNvPr>
          <p:cNvSpPr/>
          <p:nvPr/>
        </p:nvSpPr>
        <p:spPr>
          <a:xfrm>
            <a:off x="6305880" y="5842929"/>
            <a:ext cx="733426" cy="41622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zh-CN" altLang="en-US" sz="1200" dirty="0"/>
              <a:t>采购下单</a:t>
            </a:r>
            <a:endParaRPr lang="en-US" altLang="zh-CN" sz="1200" dirty="0"/>
          </a:p>
          <a:p>
            <a:pPr algn="ctr"/>
            <a:r>
              <a:rPr lang="en-US" altLang="zh-CN" sz="1200" dirty="0"/>
              <a:t>7</a:t>
            </a:r>
            <a:r>
              <a:rPr lang="zh-CN" altLang="en-US" sz="1200" dirty="0"/>
              <a:t>月</a:t>
            </a:r>
            <a:r>
              <a:rPr lang="en-US" altLang="zh-CN" sz="1200" dirty="0"/>
              <a:t>14</a:t>
            </a:r>
            <a:r>
              <a:rPr lang="zh-CN" altLang="en-US" sz="1200" dirty="0"/>
              <a:t>日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65C41EC0-4B2B-AEAE-7AD5-C5D916E40A52}"/>
              </a:ext>
            </a:extLst>
          </p:cNvPr>
          <p:cNvSpPr/>
          <p:nvPr/>
        </p:nvSpPr>
        <p:spPr>
          <a:xfrm>
            <a:off x="7608917" y="2446126"/>
            <a:ext cx="1365528" cy="41622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zh-CN" altLang="en-US" sz="1200" dirty="0"/>
              <a:t>开工：</a:t>
            </a:r>
            <a:r>
              <a:rPr lang="en-US" altLang="zh-CN" sz="1200" dirty="0"/>
              <a:t>7</a:t>
            </a:r>
            <a:r>
              <a:rPr lang="zh-CN" altLang="en-US" sz="1200" dirty="0"/>
              <a:t>月</a:t>
            </a:r>
            <a:r>
              <a:rPr lang="en-US" altLang="zh-CN" sz="1200" dirty="0"/>
              <a:t>27</a:t>
            </a:r>
            <a:r>
              <a:rPr lang="zh-CN" altLang="en-US" sz="1200" dirty="0"/>
              <a:t>日</a:t>
            </a:r>
            <a:endParaRPr lang="en-US" altLang="zh-CN" sz="1200" dirty="0"/>
          </a:p>
          <a:p>
            <a:pPr algn="ctr"/>
            <a:r>
              <a:rPr lang="zh-CN" altLang="en-US" sz="1200" dirty="0"/>
              <a:t>机台：</a:t>
            </a:r>
            <a:r>
              <a:rPr lang="en-US" altLang="zh-CN" sz="1200" dirty="0"/>
              <a:t>2</a:t>
            </a:r>
            <a:r>
              <a:rPr lang="zh-CN" altLang="en-US" sz="1200" dirty="0"/>
              <a:t>号台</a:t>
            </a:r>
            <a:endParaRPr lang="en-US" altLang="zh-CN" sz="1200" dirty="0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F7E16283-CEA1-79B3-7F20-5E9D9B921CFA}"/>
              </a:ext>
            </a:extLst>
          </p:cNvPr>
          <p:cNvSpPr/>
          <p:nvPr/>
        </p:nvSpPr>
        <p:spPr>
          <a:xfrm>
            <a:off x="7597378" y="4053596"/>
            <a:ext cx="1365528" cy="41622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zh-CN" altLang="en-US" sz="1200" dirty="0"/>
              <a:t>开工：</a:t>
            </a:r>
            <a:r>
              <a:rPr lang="en-US" altLang="zh-CN" sz="1200" dirty="0"/>
              <a:t>7</a:t>
            </a:r>
            <a:r>
              <a:rPr lang="zh-CN" altLang="en-US" sz="1200" dirty="0"/>
              <a:t>月</a:t>
            </a:r>
            <a:r>
              <a:rPr lang="en-US" altLang="zh-CN" sz="1200" dirty="0"/>
              <a:t>24</a:t>
            </a:r>
            <a:r>
              <a:rPr lang="zh-CN" altLang="en-US" sz="1200" dirty="0"/>
              <a:t>日</a:t>
            </a:r>
            <a:endParaRPr lang="en-US" altLang="zh-CN" sz="1200" dirty="0"/>
          </a:p>
          <a:p>
            <a:pPr algn="ctr"/>
            <a:r>
              <a:rPr lang="zh-CN" altLang="en-US" sz="1200" dirty="0"/>
              <a:t>机台：</a:t>
            </a:r>
            <a:r>
              <a:rPr lang="en-US" altLang="zh-CN" sz="1200" dirty="0"/>
              <a:t>3</a:t>
            </a:r>
            <a:r>
              <a:rPr lang="zh-CN" altLang="en-US" sz="1200" dirty="0"/>
              <a:t>号台</a:t>
            </a:r>
            <a:endParaRPr lang="en-US" altLang="zh-CN" sz="12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0192E48-68CB-07BB-A4E6-B43F3667B16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08" y="89514"/>
            <a:ext cx="1612549" cy="716688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F5BA90CF-951E-7BF6-B252-B7A707F80EC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1177" y="6097450"/>
            <a:ext cx="1140822" cy="760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248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文本框 67">
            <a:extLst>
              <a:ext uri="{FF2B5EF4-FFF2-40B4-BE49-F238E27FC236}">
                <a16:creationId xmlns:a16="http://schemas.microsoft.com/office/drawing/2014/main" id="{D647CD52-E479-C559-899E-EBEB4E5E269C}"/>
              </a:ext>
            </a:extLst>
          </p:cNvPr>
          <p:cNvSpPr txBox="1"/>
          <p:nvPr/>
        </p:nvSpPr>
        <p:spPr>
          <a:xfrm>
            <a:off x="4101116" y="306989"/>
            <a:ext cx="4134465" cy="523220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</a:rPr>
              <a:t>异常单：插单、设备故障</a:t>
            </a:r>
          </a:p>
        </p:txBody>
      </p:sp>
      <p:pic>
        <p:nvPicPr>
          <p:cNvPr id="69" name="图片 68">
            <a:extLst>
              <a:ext uri="{FF2B5EF4-FFF2-40B4-BE49-F238E27FC236}">
                <a16:creationId xmlns:a16="http://schemas.microsoft.com/office/drawing/2014/main" id="{A908686D-A931-92F2-6A71-B5D73170A1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08" y="89514"/>
            <a:ext cx="1612549" cy="716688"/>
          </a:xfrm>
          <a:prstGeom prst="rect">
            <a:avLst/>
          </a:prstGeom>
        </p:spPr>
      </p:pic>
      <p:pic>
        <p:nvPicPr>
          <p:cNvPr id="70" name="图片 69">
            <a:extLst>
              <a:ext uri="{FF2B5EF4-FFF2-40B4-BE49-F238E27FC236}">
                <a16:creationId xmlns:a16="http://schemas.microsoft.com/office/drawing/2014/main" id="{851EE713-5EBA-71D7-BA51-099FE1E665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1177" y="6097450"/>
            <a:ext cx="1140822" cy="76054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AD0F405-8F32-A5C3-B45D-E4F10367C0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711" y="1033614"/>
            <a:ext cx="10711466" cy="3973814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AD234B9E-3A99-0B0B-314D-E35EA7493C6E}"/>
              </a:ext>
            </a:extLst>
          </p:cNvPr>
          <p:cNvSpPr txBox="1"/>
          <p:nvPr/>
        </p:nvSpPr>
        <p:spPr>
          <a:xfrm>
            <a:off x="3265403" y="5210833"/>
            <a:ext cx="5661193" cy="1477328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bg1"/>
                </a:solidFill>
              </a:rPr>
              <a:t>插单</a:t>
            </a:r>
            <a:r>
              <a:rPr lang="zh-CN" altLang="en-US" dirty="0">
                <a:solidFill>
                  <a:schemeClr val="bg1"/>
                </a:solidFill>
              </a:rPr>
              <a:t>：高优先级</a:t>
            </a:r>
            <a:r>
              <a:rPr lang="en-US" altLang="zh-CN" dirty="0">
                <a:solidFill>
                  <a:schemeClr val="bg1"/>
                </a:solidFill>
              </a:rPr>
              <a:t>(</a:t>
            </a:r>
            <a:r>
              <a:rPr lang="zh-CN" altLang="en-US" dirty="0">
                <a:solidFill>
                  <a:schemeClr val="bg1"/>
                </a:solidFill>
              </a:rPr>
              <a:t>黄五角星</a:t>
            </a:r>
            <a:r>
              <a:rPr lang="en-US" altLang="zh-CN" dirty="0">
                <a:solidFill>
                  <a:schemeClr val="bg1"/>
                </a:solidFill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bg1"/>
                </a:solidFill>
              </a:rPr>
              <a:t>取消保留</a:t>
            </a:r>
            <a:r>
              <a:rPr lang="zh-CN" altLang="en-US" dirty="0">
                <a:solidFill>
                  <a:schemeClr val="bg1"/>
                </a:solidFill>
              </a:rPr>
              <a:t>：释放该单占用的库存</a:t>
            </a:r>
            <a:endParaRPr lang="en-US" altLang="zh-CN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bg1"/>
                </a:solidFill>
              </a:rPr>
              <a:t>取消安排</a:t>
            </a:r>
            <a:r>
              <a:rPr lang="zh-CN" altLang="en-US" dirty="0">
                <a:solidFill>
                  <a:schemeClr val="bg1"/>
                </a:solidFill>
              </a:rPr>
              <a:t>：释放该单占用的设备</a:t>
            </a:r>
            <a:endParaRPr lang="en-US" altLang="zh-CN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bg1"/>
                </a:solidFill>
              </a:rPr>
              <a:t>检查可用性</a:t>
            </a:r>
            <a:r>
              <a:rPr lang="zh-CN" altLang="en-US" dirty="0">
                <a:solidFill>
                  <a:schemeClr val="bg1"/>
                </a:solidFill>
              </a:rPr>
              <a:t>：重新占用库存，插单优先占用库存</a:t>
            </a:r>
            <a:endParaRPr lang="en-US" altLang="zh-CN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bg1"/>
                </a:solidFill>
              </a:rPr>
              <a:t>安排</a:t>
            </a:r>
            <a:r>
              <a:rPr lang="zh-CN" altLang="en-US" dirty="0">
                <a:solidFill>
                  <a:schemeClr val="bg1"/>
                </a:solidFill>
              </a:rPr>
              <a:t>：重新占用设备，插单优先占用设备</a:t>
            </a:r>
          </a:p>
        </p:txBody>
      </p:sp>
    </p:spTree>
    <p:extLst>
      <p:ext uri="{BB962C8B-B14F-4D97-AF65-F5344CB8AC3E}">
        <p14:creationId xmlns:p14="http://schemas.microsoft.com/office/powerpoint/2010/main" val="1887456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FF2E1A95-A614-B138-C3D6-CC5152EEAA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08" y="89514"/>
            <a:ext cx="1612549" cy="71668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5FA0E2D5-A6D5-E7ED-9540-78EBC7CF44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1177" y="6097450"/>
            <a:ext cx="1140822" cy="760549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72CB3585-5596-1BE6-C515-C3F003C50D9D}"/>
              </a:ext>
            </a:extLst>
          </p:cNvPr>
          <p:cNvSpPr txBox="1"/>
          <p:nvPr/>
        </p:nvSpPr>
        <p:spPr>
          <a:xfrm>
            <a:off x="4685883" y="320721"/>
            <a:ext cx="2608406" cy="523220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</a:rPr>
              <a:t>Odoo</a:t>
            </a:r>
            <a:r>
              <a:rPr lang="zh-CN" altLang="en-US" sz="2800" dirty="0">
                <a:solidFill>
                  <a:schemeClr val="bg1"/>
                </a:solidFill>
              </a:rPr>
              <a:t>缺料采购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46119F6-3C54-87FD-B1A0-B9762D37E4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782" y="1538177"/>
            <a:ext cx="10505228" cy="3170804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33FEDEDD-1260-CC41-4988-5C3DEF8F6F2E}"/>
              </a:ext>
            </a:extLst>
          </p:cNvPr>
          <p:cNvSpPr txBox="1"/>
          <p:nvPr/>
        </p:nvSpPr>
        <p:spPr>
          <a:xfrm>
            <a:off x="3159489" y="4996657"/>
            <a:ext cx="5661193" cy="646331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根据提前期计算的，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今天或更早应该下单采购的缺料列表</a:t>
            </a:r>
          </a:p>
        </p:txBody>
      </p:sp>
    </p:spTree>
    <p:extLst>
      <p:ext uri="{BB962C8B-B14F-4D97-AF65-F5344CB8AC3E}">
        <p14:creationId xmlns:p14="http://schemas.microsoft.com/office/powerpoint/2010/main" val="887911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FF2E1A95-A614-B138-C3D6-CC5152EEAA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08" y="89514"/>
            <a:ext cx="1612549" cy="71668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5FA0E2D5-A6D5-E7ED-9540-78EBC7CF44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1177" y="6097450"/>
            <a:ext cx="1140822" cy="760549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72CB3585-5596-1BE6-C515-C3F003C50D9D}"/>
              </a:ext>
            </a:extLst>
          </p:cNvPr>
          <p:cNvSpPr txBox="1"/>
          <p:nvPr/>
        </p:nvSpPr>
        <p:spPr>
          <a:xfrm>
            <a:off x="4685883" y="320721"/>
            <a:ext cx="2339102" cy="523220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</a:rPr>
              <a:t>设备负载报表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AD52A65F-C12A-364A-A8CB-C32F330B94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7267" y="1297173"/>
            <a:ext cx="8972761" cy="5024746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844828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FE86DF6A-D5F3-9623-D34D-B7BA714C51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2943" y="1416673"/>
            <a:ext cx="7686392" cy="4680777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F2E1A95-A614-B138-C3D6-CC5152EEAA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08" y="89514"/>
            <a:ext cx="1612549" cy="71668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5FA0E2D5-A6D5-E7ED-9540-78EBC7CF44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1177" y="6097450"/>
            <a:ext cx="1140822" cy="760549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72CB3585-5596-1BE6-C515-C3F003C50D9D}"/>
              </a:ext>
            </a:extLst>
          </p:cNvPr>
          <p:cNvSpPr txBox="1"/>
          <p:nvPr/>
        </p:nvSpPr>
        <p:spPr>
          <a:xfrm>
            <a:off x="4685883" y="320721"/>
            <a:ext cx="2606804" cy="523220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</a:rPr>
              <a:t>Odoo BoM</a:t>
            </a:r>
            <a:r>
              <a:rPr lang="zh-CN" altLang="en-US" sz="2800" dirty="0">
                <a:solidFill>
                  <a:schemeClr val="bg1"/>
                </a:solidFill>
              </a:rPr>
              <a:t>示例</a:t>
            </a:r>
          </a:p>
        </p:txBody>
      </p:sp>
    </p:spTree>
    <p:extLst>
      <p:ext uri="{BB962C8B-B14F-4D97-AF65-F5344CB8AC3E}">
        <p14:creationId xmlns:p14="http://schemas.microsoft.com/office/powerpoint/2010/main" val="27440857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</TotalTime>
  <Words>333</Words>
  <Application>Microsoft Office PowerPoint</Application>
  <PresentationFormat>宽屏</PresentationFormat>
  <Paragraphs>75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Xiangfu Xiao</dc:creator>
  <cp:lastModifiedBy>Xiangfu Xiao</cp:lastModifiedBy>
  <cp:revision>23</cp:revision>
  <dcterms:created xsi:type="dcterms:W3CDTF">2024-07-04T11:15:52Z</dcterms:created>
  <dcterms:modified xsi:type="dcterms:W3CDTF">2024-07-05T05:13:09Z</dcterms:modified>
</cp:coreProperties>
</file>